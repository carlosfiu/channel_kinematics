
<file path=[Content_Types].xml><?xml version="1.0" encoding="utf-8"?>
<Types xmlns="http://schemas.openxmlformats.org/package/2006/content-types">
  <Default ContentType="image/x-emf" Extension="emf"/>
  <Default ContentType="image/jpeg" Extension="jpeg"/>
  <Default ContentType="application/vnd.openxmlformats-package.relationships+xml" Extension="rels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removePersonalInfoOnSave="1" saveSubsetFonts="1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1FECB4D8-DB02-4DC6-A0A2-4F2EBAE1DC90}" styleName="Medium Style 1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EB344D84-9AFB-497E-A393-DC336BA19D2E}" styleName="Medium Style 3 - Accent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4C1A8A3-306A-4EB7-A6B1-4F7E0EB9C5D6}" styleName="Medium Style 3 - Accent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2A488322-F2BA-4B5B-9748-0D474271808F}" styleName="Medium Style 3 - 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0505E3EF-67EA-436B-97B2-0124C06EBD24}" styleName="Medium Style 4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C4B1156A-380E-4F78-BDF5-A606A8083BF9}" styleName="Medium Style 4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  <a:tblStyle styleId="{22838BEF-8BB2-4498-84A7-C5851F593DF1}" styleName="Medium Style 4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16D9F66E-5EB9-4882-86FB-DCBF35E3C3E4}" styleName="Medium Style 4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125E5076-3810-47DD-B79F-674D7AD40C01}" styleName="Dark Style 1 - Accent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37CE84F3-28C3-443E-9E96-99CF82512B78}" styleName="Dark Style 1 - Accent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D03447BB-5D67-496B-8E87-E561075AD55C}" styleName="Dark Style 1 - Accent 3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wholeTbl>
    <a:band1H>
      <a:tcStyle>
        <a:tcBdr/>
        <a:fill>
          <a:solidFill>
            <a:schemeClr val="accent3">
              <a:shade val="60000"/>
            </a:schemeClr>
          </a:solidFill>
        </a:fill>
      </a:tcStyle>
    </a:band1H>
    <a:band1V>
      <a:tcStyle>
        <a:tcBdr/>
        <a:fill>
          <a:solidFill>
            <a:schemeClr val="accent3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3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3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3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E929F9F4-4A8F-4326-A1B4-22849713DDAB}" styleName="Dark Style 1 - Accent 4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wholeTbl>
    <a:band1H>
      <a:tcStyle>
        <a:tcBdr/>
        <a:fill>
          <a:solidFill>
            <a:schemeClr val="accent4">
              <a:shade val="60000"/>
            </a:schemeClr>
          </a:solidFill>
        </a:fill>
      </a:tcStyle>
    </a:band1H>
    <a:band1V>
      <a:tcStyle>
        <a:tcBdr/>
        <a:fill>
          <a:solidFill>
            <a:schemeClr val="accent4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4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4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4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8FD4443E-F989-4FC4-A0C8-D5A2AF1F390B}" styleName="Dark Style 1 - Accent 5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wholeTbl>
    <a:band1H>
      <a:tcStyle>
        <a:tcBdr/>
        <a:fill>
          <a:solidFill>
            <a:schemeClr val="accent5">
              <a:shade val="60000"/>
            </a:schemeClr>
          </a:solidFill>
        </a:fill>
      </a:tcStyle>
    </a:band1H>
    <a:band1V>
      <a:tcStyle>
        <a:tcBdr/>
        <a:fill>
          <a:solidFill>
            <a:schemeClr val="accent5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5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5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5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AF606853-7671-496A-8E4F-DF71F8EC918B}" styleName="Dark Style 1 - Accent 6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wholeTbl>
    <a:band1H>
      <a:tcStyle>
        <a:tcBdr/>
        <a:fill>
          <a:solidFill>
            <a:schemeClr val="accent6">
              <a:shade val="60000"/>
            </a:schemeClr>
          </a:solidFill>
        </a:fill>
      </a:tcStyle>
    </a:band1H>
    <a:band1V>
      <a:tcStyle>
        <a:tcBdr/>
        <a:fill>
          <a:solidFill>
            <a:schemeClr val="accent6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6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6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6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0660B408-B3CF-4A94-85FC-2B1E0A45F4A2}" styleName="Dark Style 2 - Accent 1/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46F890A9-2807-4EBB-B81D-B2AA78EC7F39}" styleName="Dark Style 2 - Accent 5/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35758FB7-9AC5-4552-8A53-C91805E547FA}" styleName="Themed Style 1 - Accent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D113A9D2-9D6B-4929-AA2D-F23B5EE8CBE7}" styleName="Themed Style 2 -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18603FDC-E32A-4AB5-989C-0864C3EAD2B8}" styleName="Themed Style 2 - Accent 2">
    <a:tblBg>
      <a:fillRef idx="3">
        <a:schemeClr val="accent2"/>
      </a:fillRef>
      <a:effectRef idx="3">
        <a:schemeClr val="accent2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2">
                <a:tint val="50000"/>
              </a:schemeClr>
            </a:lnRef>
          </a:left>
          <a:right>
            <a:lnRef idx="1">
              <a:schemeClr val="accent2">
                <a:tint val="50000"/>
              </a:schemeClr>
            </a:lnRef>
          </a:right>
          <a:top>
            <a:lnRef idx="1">
              <a:schemeClr val="accent2">
                <a:tint val="50000"/>
              </a:schemeClr>
            </a:lnRef>
          </a:top>
          <a:bottom>
            <a:lnRef idx="1">
              <a:schemeClr val="accent2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306799F8-075E-4A3A-A7F6-7FBC6576F1A4}" styleName="Themed Style 2 - Accent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E269D01E-BC32-4049-B463-5C60D7B0CCD2}" styleName="Themed Style 2 - Accent 4">
    <a:tblBg>
      <a:fillRef idx="3">
        <a:schemeClr val="accent4"/>
      </a:fillRef>
      <a:effectRef idx="3">
        <a:schemeClr val="accent4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4">
                <a:tint val="50000"/>
              </a:schemeClr>
            </a:lnRef>
          </a:left>
          <a:right>
            <a:lnRef idx="1">
              <a:schemeClr val="accent4">
                <a:tint val="50000"/>
              </a:schemeClr>
            </a:lnRef>
          </a:right>
          <a:top>
            <a:lnRef idx="1">
              <a:schemeClr val="accent4">
                <a:tint val="50000"/>
              </a:schemeClr>
            </a:lnRef>
          </a:top>
          <a:bottom>
            <a:lnRef idx="1">
              <a:schemeClr val="accent4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327F97BB-C833-4FB7-BDE5-3F7075034690}" styleName="Themed Style 2 - Accent 5">
    <a:tblBg>
      <a:fillRef idx="3">
        <a:schemeClr val="accent5"/>
      </a:fillRef>
      <a:effectRef idx="3">
        <a:schemeClr val="accent5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5">
                <a:tint val="50000"/>
              </a:schemeClr>
            </a:lnRef>
          </a:left>
          <a:right>
            <a:lnRef idx="1">
              <a:schemeClr val="accent5">
                <a:tint val="50000"/>
              </a:schemeClr>
            </a:lnRef>
          </a:right>
          <a:top>
            <a:lnRef idx="1">
              <a:schemeClr val="accent5">
                <a:tint val="50000"/>
              </a:schemeClr>
            </a:lnRef>
          </a:top>
          <a:bottom>
            <a:lnRef idx="1">
              <a:schemeClr val="accent5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638B1855-1B75-4FBE-930C-398BA8C253C6}" styleName="Themed Style 2 - Accent 6">
    <a:tblBg>
      <a:fillRef idx="3">
        <a:schemeClr val="accent6"/>
      </a:fillRef>
      <a:effectRef idx="3">
        <a:schemeClr val="accent6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6">
                <a:tint val="50000"/>
              </a:schemeClr>
            </a:lnRef>
          </a:left>
          <a:right>
            <a:lnRef idx="1">
              <a:schemeClr val="accent6">
                <a:tint val="50000"/>
              </a:schemeClr>
            </a:lnRef>
          </a:right>
          <a:top>
            <a:lnRef idx="1">
              <a:schemeClr val="accent6">
                <a:tint val="50000"/>
              </a:schemeClr>
            </a:lnRef>
          </a:top>
          <a:bottom>
            <a:lnRef idx="1">
              <a:schemeClr val="accent6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025" autoAdjust="0"/>
    <p:restoredTop sz="94660"/>
  </p:normalViewPr>
  <p:slideViewPr>
    <p:cSldViewPr snapToGrid="0">
      <p:cViewPr varScale="1">
        <p:scale>
          <a:sx n="119" d="100"/>
          <a:sy n="119" d="100"/>
        </p:scale>
        <p:origin x="110" y="4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 ?>
<Relationships xmlns="http://schemas.openxmlformats.org/package/2006/relationships">
  <Relationship Id="rId1" Target="slideMasters/slideMaster1.xml" Type="http://schemas.openxmlformats.org/officeDocument/2006/relationships/slideMaster"/>
  <Relationship Id="rId10" Target="slides/slide5.xml" Type="http://schemas.openxmlformats.org/officeDocument/2006/relationships/slide"/>
  <Relationship Id="rId11" Target="slides/slide6.xml" Type="http://schemas.openxmlformats.org/officeDocument/2006/relationships/slide"/>
  <Relationship Id="rId12" Target="slides/slide7.xml" Type="http://schemas.openxmlformats.org/officeDocument/2006/relationships/slide"/>
  <Relationship Id="rId13" Target="slides/slide8.xml" Type="http://schemas.openxmlformats.org/officeDocument/2006/relationships/slide"/>
  <Relationship Id="rId14" Target="slides/slide9.xml" Type="http://schemas.openxmlformats.org/officeDocument/2006/relationships/slide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<Relationship Id="rId6" Target="slides/slide1.xml" Type="http://schemas.openxmlformats.org/officeDocument/2006/relationships/slide"/>
  <Relationship Id="rId7" Target="slides/slide2.xml" Type="http://schemas.openxmlformats.org/officeDocument/2006/relationships/slide"/>
  <Relationship Id="rId8" Target="slides/slide3.xml" Type="http://schemas.openxmlformats.org/officeDocument/2006/relationships/slide"/>
  <Relationship Id="rId9" Target="slides/slide4.xml" Type="http://schemas.openxmlformats.org/officeDocument/2006/relationships/slide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5" name="Foot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298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5" name="Foot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42153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5" name="Foot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67732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Left Content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ight Content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6" name="Foot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80456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Left Text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Left Content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ight Text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Right Content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8" name="Foot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57050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4" name="Foot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28418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3" name="Foot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40339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6" name="Foot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23448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6" name="Foot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2169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5" name="Foot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80285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5" name="Foot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154556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bl" preserve="1">
  <p:cSld name="Title and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able"/>
          <p:cNvSpPr>
            <a:spLocks noGrp="1"/>
          </p:cNvSpPr>
          <p:nvPr>
            <p:ph type="tbl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5" name="Foot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251355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4" name="Foot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  <p:sp>
        <p:nvSpPr>
          <p:cNvPr id="8" name="Picture"/>
          <p:cNvSpPr>
            <a:spLocks noGrp="1"/>
          </p:cNvSpPr>
          <p:nvPr>
            <p:ph type="pic" sz="quarter" idx="13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44755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36077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 ?>
<Relationships xmlns="http://schemas.openxmlformats.org/package/2006/relationships">
  <Relationship Id="rId1" Target="../slideLayouts/slideLayout2.xml" Type="http://schemas.openxmlformats.org/officeDocument/2006/relationships/slideLayout"/>
  <Relationship Id="rId2" Target="../media/95df5bd4-383f-4987-ac3b-b8e1d5091af1.emf" Type="http://schemas.openxmlformats.org/officeDocument/2006/relationships/image"/>
</Relationships>

</file>

<file path=ppt/slides/_rels/slide2.xml.rels><?xml version="1.0" encoding="UTF-8" standalone="yes" ?>
<Relationships xmlns="http://schemas.openxmlformats.org/package/2006/relationships">
  <Relationship Id="rId1" Target="../slideLayouts/slideLayout2.xml" Type="http://schemas.openxmlformats.org/officeDocument/2006/relationships/slideLayout"/>
  <Relationship Id="rId2" Target="../media/4a7af9f6-2954-4d7e-a845-05f05d85d4eb.emf" Type="http://schemas.openxmlformats.org/officeDocument/2006/relationships/image"/>
</Relationships>

</file>

<file path=ppt/slides/_rels/slide3.xml.rels><?xml version="1.0" encoding="UTF-8" standalone="yes" ?>
<Relationships xmlns="http://schemas.openxmlformats.org/package/2006/relationships">
  <Relationship Id="rId1" Target="../slideLayouts/slideLayout2.xml" Type="http://schemas.openxmlformats.org/officeDocument/2006/relationships/slideLayout"/>
  <Relationship Id="rId2" Target="../media/20cde6a7-9367-4254-bc6e-b2501c55f042.emf" Type="http://schemas.openxmlformats.org/officeDocument/2006/relationships/image"/>
</Relationships>

</file>

<file path=ppt/slides/_rels/slide4.xml.rels><?xml version="1.0" encoding="UTF-8" standalone="yes" ?>
<Relationships xmlns="http://schemas.openxmlformats.org/package/2006/relationships">
  <Relationship Id="rId1" Target="../slideLayouts/slideLayout2.xml" Type="http://schemas.openxmlformats.org/officeDocument/2006/relationships/slideLayout"/>
  <Relationship Id="rId2" Target="../media/acad985a-69e6-4226-99c8-fb8bfc021f08.emf" Type="http://schemas.openxmlformats.org/officeDocument/2006/relationships/image"/>
</Relationships>

</file>

<file path=ppt/slides/_rels/slide5.xml.rels><?xml version="1.0" encoding="UTF-8" standalone="yes" ?>
<Relationships xmlns="http://schemas.openxmlformats.org/package/2006/relationships">
  <Relationship Id="rId1" Target="../slideLayouts/slideLayout2.xml" Type="http://schemas.openxmlformats.org/officeDocument/2006/relationships/slideLayout"/>
  <Relationship Id="rId2" Target="../media/5bc0c04d-4efc-4f61-9ed1-030d1bb75263.emf" Type="http://schemas.openxmlformats.org/officeDocument/2006/relationships/image"/>
</Relationships>

</file>

<file path=ppt/slides/_rels/slide6.xml.rels><?xml version="1.0" encoding="UTF-8" standalone="yes" ?>
<Relationships xmlns="http://schemas.openxmlformats.org/package/2006/relationships">
  <Relationship Id="rId1" Target="../slideLayouts/slideLayout2.xml" Type="http://schemas.openxmlformats.org/officeDocument/2006/relationships/slideLayout"/>
  <Relationship Id="rId2" Target="../media/cc5fbea5-0796-4f43-8e60-00e33383b65a.emf" Type="http://schemas.openxmlformats.org/officeDocument/2006/relationships/image"/>
</Relationships>

</file>

<file path=ppt/slides/_rels/slide7.xml.rels><?xml version="1.0" encoding="UTF-8" standalone="yes" ?>
<Relationships xmlns="http://schemas.openxmlformats.org/package/2006/relationships">
  <Relationship Id="rId1" Target="../slideLayouts/slideLayout2.xml" Type="http://schemas.openxmlformats.org/officeDocument/2006/relationships/slideLayout"/>
  <Relationship Id="rId2" Target="../media/8bc0c7fd-3362-4380-9775-d7bb3103acf5.emf" Type="http://schemas.openxmlformats.org/officeDocument/2006/relationships/image"/>
</Relationships>

</file>

<file path=ppt/slides/_rels/slide8.xml.rels><?xml version="1.0" encoding="UTF-8" standalone="yes" ?>
<Relationships xmlns="http://schemas.openxmlformats.org/package/2006/relationships">
  <Relationship Id="rId1" Target="../slideLayouts/slideLayout2.xml" Type="http://schemas.openxmlformats.org/officeDocument/2006/relationships/slideLayout"/>
  <Relationship Id="rId2" Target="../media/fa909bbf-21e7-491b-8326-a597d0774525.emf" Type="http://schemas.openxmlformats.org/officeDocument/2006/relationships/image"/>
</Relationships>

</file>

<file path=ppt/slides/_rels/slide9.xml.rels><?xml version="1.0" encoding="UTF-8" standalone="yes" ?>
<Relationships xmlns="http://schemas.openxmlformats.org/package/2006/relationships">
  <Relationship Id="rId1" Target="../slideLayouts/slideLayout2.xml" Type="http://schemas.openxmlformats.org/officeDocument/2006/relationships/slideLayout"/>
</Relationships>
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Channel Comparison - PC Na [PC apic]</a:t>
            </a:r>
          </a:p>
        </p:txBody>
      </p:sp>
      <p:pic>
        <p:nvPicPr>
          <p:cNvPr id="3" name="Content"/>
          <p:cNvPicPr>
            <a:picLocks noChangeAspect="1"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72596" y="1825625"/>
            <a:ext cx="7446807" cy="4351338"/>
          </a:xfrm>
          <a:prstGeom prst="rect"/>
        </p:spPr>
      </p:pic>
      <p:sp>
        <p:nvSpPr>
          <p:cNvPr id="4" name="Date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5" name="Footer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4215338"/>
      </p:ext>
    </p:extLst>
  </p:cSld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Channel Comparison - PC KDR [PC apic]</a:t>
            </a:r>
          </a:p>
        </p:txBody>
      </p:sp>
      <p:pic>
        <p:nvPicPr>
          <p:cNvPr id="3" name="Content"/>
          <p:cNvPicPr>
            <a:picLocks noChangeAspect="1"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72596" y="1825625"/>
            <a:ext cx="7446807" cy="4351338"/>
          </a:xfrm>
          <a:prstGeom prst="rect"/>
        </p:spPr>
      </p:pic>
      <p:sp>
        <p:nvSpPr>
          <p:cNvPr id="4" name="Date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5" name="Footer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4215338"/>
      </p:ext>
    </p:extLst>
  </p:cSld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Channel Comparison - PC A-type K [PC apic]</a:t>
            </a:r>
          </a:p>
        </p:txBody>
      </p:sp>
      <p:pic>
        <p:nvPicPr>
          <p:cNvPr id="3" name="Content"/>
          <p:cNvPicPr>
            <a:picLocks noChangeAspect="1"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72596" y="1825625"/>
            <a:ext cx="7446807" cy="4351338"/>
          </a:xfrm>
          <a:prstGeom prst="rect"/>
        </p:spPr>
      </p:pic>
      <p:sp>
        <p:nvSpPr>
          <p:cNvPr id="4" name="Date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5" name="Footer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4215338"/>
      </p:ext>
    </p:extLst>
  </p:cSld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Channel Comparison - BlueBrain PC T-type Ca [PC apic]</a:t>
            </a:r>
          </a:p>
        </p:txBody>
      </p:sp>
      <p:pic>
        <p:nvPicPr>
          <p:cNvPr id="3" name="Content"/>
          <p:cNvPicPr>
            <a:picLocks noChangeAspect="1"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72596" y="1825625"/>
            <a:ext cx="7446807" cy="4351338"/>
          </a:xfrm>
          <a:prstGeom prst="rect"/>
        </p:spPr>
      </p:pic>
      <p:sp>
        <p:nvSpPr>
          <p:cNvPr id="4" name="Date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5" name="Footer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4215338"/>
      </p:ext>
    </p:extLst>
  </p:cSld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Channel Comparison - Bezaire PC A-type K distal [PC apic]</a:t>
            </a:r>
          </a:p>
        </p:txBody>
      </p:sp>
      <p:pic>
        <p:nvPicPr>
          <p:cNvPr id="3" name="Content"/>
          <p:cNvPicPr>
            <a:picLocks noChangeAspect="1"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72596" y="1825625"/>
            <a:ext cx="7446807" cy="4351338"/>
          </a:xfrm>
          <a:prstGeom prst="rect"/>
        </p:spPr>
      </p:pic>
      <p:sp>
        <p:nvSpPr>
          <p:cNvPr id="4" name="Date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5" name="Footer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4215338"/>
      </p:ext>
    </p:extLst>
  </p:cSld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Channel Comparison - Bezaire PC HCN [PC apic]</a:t>
            </a:r>
          </a:p>
        </p:txBody>
      </p:sp>
      <p:pic>
        <p:nvPicPr>
          <p:cNvPr id="3" name="Content"/>
          <p:cNvPicPr>
            <a:picLocks noChangeAspect="1"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72596" y="1825625"/>
            <a:ext cx="7446807" cy="4351338"/>
          </a:xfrm>
          <a:prstGeom prst="rect"/>
        </p:spPr>
      </p:pic>
      <p:sp>
        <p:nvSpPr>
          <p:cNvPr id="4" name="Date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5" name="Footer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4215338"/>
      </p:ext>
    </p:extLst>
  </p:cSld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Calcium-dependent channels (cai vs probability) [PC apic]</a:t>
            </a:r>
          </a:p>
        </p:txBody>
      </p:sp>
      <p:pic>
        <p:nvPicPr>
          <p:cNvPr id="3" name="Content"/>
          <p:cNvPicPr>
            <a:picLocks noChangeAspect="1"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2163302"/>
            <a:ext cx="10515600" cy="3675982"/>
          </a:xfrm>
          <a:prstGeom prst="rect"/>
        </p:spPr>
      </p:pic>
      <p:sp>
        <p:nvSpPr>
          <p:cNvPr id="4" name="Date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5" name="Footer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4215338"/>
      </p:ext>
    </p:extLst>
  </p:cSld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Figure 19 - Complete targeted channel set [PC apic]</a:t>
            </a:r>
          </a:p>
        </p:txBody>
      </p:sp>
      <p:pic>
        <p:nvPicPr>
          <p:cNvPr id="3" name="Content"/>
          <p:cNvPicPr>
            <a:picLocks noChangeAspect="1"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97671" y="1825625"/>
            <a:ext cx="6996656" cy="4351338"/>
          </a:xfrm>
          <a:prstGeom prst="rect"/>
        </p:spPr>
      </p:pic>
      <p:sp>
        <p:nvSpPr>
          <p:cNvPr id="4" name="Date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5" name="Footer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4215338"/>
      </p:ext>
    </p:extLst>
  </p:cSld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Supplementary Figure 2 Caption</a:t>
            </a:r>
          </a:p>
        </p:txBody>
      </p:sp>
      <p:sp>
        <p:nvSpPr>
          <p:cNvPr id="3" name="Content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Supplementary Figure 2. Complete channel-kinematics comparison for PC apic.
Composite comparison of model-derived CA1 channel kinetics for the selected compartment set. A. Lettered panels (A., B., C., ...) each correspond to one channel family and report gate steady-state variables (x_inf), complementary closing variables (1-x_inf), time constants (tau), and channel opening probability (P_open) across membrane voltage. Panel headers indicate the channel identity and which models are included (Canakci, BlueBrain, Bezaire, where available).
B. Calcium-dependent channels are summarized separately as calcium concentration versus opening probability (cai vs P_open), aligned to the same compartment set. Residual-based BlueBrain-versus-other similarity rankings for matched compartments are provided in the associated supplementary residual tables.</a:t>
            </a:r>
          </a:p>
        </p:txBody>
      </p:sp>
      <p:sp>
        <p:nvSpPr>
          <p:cNvPr id="4" name="Date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5" name="Footer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421533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efault.potx" id="{4DAAD9BA-8E58-4898-BC8A-99302C4F06E1}" vid="{BA943B1D-2A1C-434D-B720-D47753C6092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Microsoft Office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Arial</vt:lpstr>
      <vt:lpstr>Calibri</vt:lpstr>
      <vt:lpstr>Calibri Light</vt:lpstr>
      <vt:lpstr>Office Theme</vt:lpstr>
    </vt:vector>
  </TitlesOfParts>
  <Manager/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/>
  <cp:lastModifiedBy/>
  <cp:revision>9</cp:revision>
  <dcterms:created xsi:type="dcterms:W3CDTF">2014-10-29T15:36:00Z</dcterms:created>
  <dcterms:modified xsi:type="dcterms:W3CDTF">2019-03-21T19:04:45Z</dcterms:modified>
</cp:coreProperties>
</file>